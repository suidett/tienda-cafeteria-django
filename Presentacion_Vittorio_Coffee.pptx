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400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8884A"/>
                </a:solidFill>
              </a:rPr>
              <a:t>☕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spc="300" kern="0" dirty="0">
                <a:solidFill>
                  <a:srgbClr val="F0E6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VITTORIO COFFEE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B88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 web para una cafetería de especialidad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Desarrollo de Aplicación Web con Django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y Programación Orientada a la Web  ·  UTFSM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 Danilo Palavecino, Thalía, Juan de la Barra   ·   Junio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B888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 y necesidad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5A4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cafetería necesita vender y gestionar sus pedidos en línea, sin depender de llamados, filas ni anotaciones en papel.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8404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606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8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el cliente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la carta, armar su pedido y comprarlo de forma simple, a cualquier hora.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709160" y="2377440"/>
            <a:ext cx="38404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2606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8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el negocio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83480" y="30632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Centralizar los pedidos, controlar productos y estados, y atender más rápido.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B888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e investigación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61288" y="82296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8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4 del enunciado: Cafetería online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048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elegido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Cafetería de especialidad que ofrece cafés, postres y sándwiches.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Categorías: Cafés calientes, Cafés fríos, Postres y Sándwiches.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 para retiro en local, con horario y modo de pago.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84048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Investigación realizada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29200" y="205740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opera una cafetería y qué procesos digitalizar.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necesita el cliente frente a qué necesita la administración.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del negocio: disponibilidad, precios y estados de un pedido.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B888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Usuarios y actores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2560320" cy="292608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08760" y="1691640"/>
            <a:ext cx="548640" cy="548640"/>
          </a:xfrm>
          <a:prstGeom prst="ellipse">
            <a:avLst/>
          </a:prstGeom>
          <a:solidFill>
            <a:srgbClr val="FBF7F0"/>
          </a:solidFill>
          <a:ln w="19050">
            <a:solidFill>
              <a:srgbClr val="B888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87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8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Invitado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 la carta y compra sin registrarse. Su pedido queda con usuario nulo.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2560320" cy="292608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0" y="1691640"/>
            <a:ext cx="548640" cy="548640"/>
          </a:xfrm>
          <a:prstGeom prst="ellipse">
            <a:avLst/>
          </a:prstGeom>
          <a:solidFill>
            <a:srgbClr val="FBF7F0"/>
          </a:solidFill>
          <a:ln w="19050">
            <a:solidFill>
              <a:srgbClr val="B888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8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7472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20440" y="28346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registra e inicia sesión. Compra y ve su historial en “Mis pedidos”.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080760" y="1463040"/>
            <a:ext cx="2560320" cy="292608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86600" y="1691640"/>
            <a:ext cx="548640" cy="548640"/>
          </a:xfrm>
          <a:prstGeom prst="ellipse">
            <a:avLst/>
          </a:prstGeom>
          <a:solidFill>
            <a:srgbClr val="FBF7F0"/>
          </a:solidFill>
          <a:ln w="19050">
            <a:solidFill>
              <a:srgbClr val="B888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866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8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26364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Administrador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09360" y="28346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staff. Gestiona productos, categorías, pedidos y usuarios en el panel.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B888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Requerimientos funcionales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61288" y="82296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8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debe poder hacer el sistema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56032" cy="256032"/>
          </a:xfrm>
          <a:prstGeom prst="ellipse">
            <a:avLst/>
          </a:prstGeom>
          <a:solidFill>
            <a:srgbClr val="B8884A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4173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productos con filtro por categoría.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09160" y="1463040"/>
            <a:ext cx="256032" cy="256032"/>
          </a:xfrm>
          <a:prstGeom prst="ellipse">
            <a:avLst/>
          </a:prstGeom>
          <a:solidFill>
            <a:srgbClr val="B8884A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14173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Carrito de compras guardado en la sesión.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304288"/>
            <a:ext cx="256032" cy="256032"/>
          </a:xfrm>
          <a:prstGeom prst="ellipse">
            <a:avLst/>
          </a:prstGeom>
          <a:solidFill>
            <a:srgbClr val="B8884A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25856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con horario de retiro y modo de pago.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09160" y="2304288"/>
            <a:ext cx="256032" cy="256032"/>
          </a:xfrm>
          <a:prstGeom prst="ellipse">
            <a:avLst/>
          </a:prstGeom>
          <a:solidFill>
            <a:srgbClr val="B8884A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225856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Registro, inicio de sesión y recuperación de contraseña.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145536"/>
            <a:ext cx="256032" cy="256032"/>
          </a:xfrm>
          <a:prstGeom prst="ellipse">
            <a:avLst/>
          </a:prstGeom>
          <a:solidFill>
            <a:srgbClr val="B8884A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09981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pedidos del cliente (“Mis pedidos”).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09160" y="3145536"/>
            <a:ext cx="256032" cy="256032"/>
          </a:xfrm>
          <a:prstGeom prst="ellipse">
            <a:avLst/>
          </a:prstGeom>
          <a:solidFill>
            <a:srgbClr val="B8884A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309981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Panel: CRUD de productos y categorías.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986784"/>
            <a:ext cx="256032" cy="256032"/>
          </a:xfrm>
          <a:prstGeom prst="ellipse">
            <a:avLst/>
          </a:prstGeom>
          <a:solidFill>
            <a:srgbClr val="B8884A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3941064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pedidos: cambio de estado.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09160" y="3986784"/>
            <a:ext cx="256032" cy="256032"/>
          </a:xfrm>
          <a:prstGeom prst="ellipse">
            <a:avLst/>
          </a:prstGeom>
          <a:solidFill>
            <a:srgbClr val="B8884A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3941064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usuarios por el administrador.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B888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Requerimientos del sistema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61288" y="82296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8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Aspectos técnicos exigidos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56032" cy="256032"/>
          </a:xfrm>
          <a:prstGeom prst="ellipse">
            <a:avLst/>
          </a:prstGeom>
          <a:solidFill>
            <a:srgbClr val="B8884A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4173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+ Python en el backend.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09160" y="1463040"/>
            <a:ext cx="256032" cy="256032"/>
          </a:xfrm>
          <a:prstGeom prst="ellipse">
            <a:avLst/>
          </a:prstGeom>
          <a:solidFill>
            <a:srgbClr val="B8884A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14173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semántico, CSS propio + Bootstrap y JavaScript.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304288"/>
            <a:ext cx="256032" cy="256032"/>
          </a:xfrm>
          <a:prstGeom prst="ellipse">
            <a:avLst/>
          </a:prstGeom>
          <a:solidFill>
            <a:srgbClr val="B8884A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25856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y archivos estáticos de Django.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09160" y="2304288"/>
            <a:ext cx="256032" cy="256032"/>
          </a:xfrm>
          <a:prstGeom prst="ellipse">
            <a:avLst/>
          </a:prstGeom>
          <a:solidFill>
            <a:srgbClr val="B8884A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225856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SQLite con modelos relacionados y migraciones.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145536"/>
            <a:ext cx="256032" cy="256032"/>
          </a:xfrm>
          <a:prstGeom prst="ellipse">
            <a:avLst/>
          </a:prstGeom>
          <a:solidFill>
            <a:srgbClr val="B8884A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09981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y control de acceso por roles.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09160" y="3145536"/>
            <a:ext cx="256032" cy="256032"/>
          </a:xfrm>
          <a:prstGeom prst="ellipse">
            <a:avLst/>
          </a:prstGeom>
          <a:solidFill>
            <a:srgbClr val="B8884A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309981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responsivo y validación de formularios.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986784"/>
            <a:ext cx="256032" cy="256032"/>
          </a:xfrm>
          <a:prstGeom prst="ellipse">
            <a:avLst/>
          </a:prstGeom>
          <a:solidFill>
            <a:srgbClr val="B8884A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3941064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organizadas; vistas públicas separadas de las protegidas.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09160" y="3986784"/>
            <a:ext cx="256032" cy="256032"/>
          </a:xfrm>
          <a:prstGeom prst="ellipse">
            <a:avLst/>
          </a:prstGeom>
          <a:solidFill>
            <a:srgbClr val="B8884A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3941064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ordenado con nombres claros y representativos.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B888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datos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5A4633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691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377440" y="2011680"/>
            <a:ext cx="640080" cy="0"/>
          </a:xfrm>
          <a:prstGeom prst="line">
            <a:avLst/>
          </a:prstGeom>
          <a:noFill/>
          <a:ln w="19050">
            <a:solidFill>
              <a:srgbClr val="B888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1719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8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17520" y="169164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5A4633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017520" y="1691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54880" y="2011680"/>
            <a:ext cx="640080" cy="0"/>
          </a:xfrm>
          <a:prstGeom prst="line">
            <a:avLst/>
          </a:prstGeom>
          <a:noFill/>
          <a:ln w="19050">
            <a:solidFill>
              <a:srgbClr val="B888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719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8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94960" y="169164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8A5A2B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94960" y="1691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DetallePedido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394960" y="315468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33261A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94960" y="31546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309360" y="2331720"/>
            <a:ext cx="0" cy="822960"/>
          </a:xfrm>
          <a:prstGeom prst="line">
            <a:avLst/>
          </a:prstGeom>
          <a:noFill/>
          <a:ln w="19050">
            <a:solidFill>
              <a:srgbClr val="B888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2606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0" y="315468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33261A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43200" y="31546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480560" y="3474720"/>
            <a:ext cx="914400" cy="0"/>
          </a:xfrm>
          <a:prstGeom prst="line">
            <a:avLst/>
          </a:prstGeom>
          <a:noFill/>
          <a:ln w="19050">
            <a:solidFill>
              <a:srgbClr val="B888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31821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8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297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C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DetallePedido guarda el precio al momento de la compra: el historial no cambia si luego se modifica el precio del producto.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B888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Funcionalidades principales implementadas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5819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Carta dinámica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98424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y categorías desde la base de datos, con filtro.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91840" y="141732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15819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Carrito en sesión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20440" y="198424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y quitar, con total en vivo y tope por producto.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80760" y="141732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5819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Checkout real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09360" y="198424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el pedido en la base, con horario y modo de pago.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01752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31821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 pedidos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358444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ve su historial con estado y detalle.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291840" y="301752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520440" y="31821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Panel propio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520440" y="358444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CRUD y gestión de pedidos y usuarios.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080760" y="301752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09360" y="31821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 y roles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09360" y="358444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Registro, login y acceso restringido por privilegios.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B888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Demostración: flujo del cliente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1920240" cy="20116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88720" y="2057400"/>
            <a:ext cx="548640" cy="548640"/>
          </a:xfrm>
          <a:prstGeom prst="ellipse">
            <a:avLst/>
          </a:prstGeom>
          <a:solidFill>
            <a:srgbClr val="B8884A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2743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 la carta y filtra por categoría.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31720" y="1828800"/>
            <a:ext cx="365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884A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651760" y="1828800"/>
            <a:ext cx="1920240" cy="20116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2057400"/>
            <a:ext cx="548640" cy="548640"/>
          </a:xfrm>
          <a:prstGeom prst="ellipse">
            <a:avLst/>
          </a:prstGeom>
          <a:solidFill>
            <a:srgbClr val="B8884A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743200" y="2743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Agrega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88920" y="31546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productos al carrito (se actualiza el total).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80560" y="1828800"/>
            <a:ext cx="365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884A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800600" y="1828800"/>
            <a:ext cx="1920240" cy="20116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0" y="2057400"/>
            <a:ext cx="548640" cy="548640"/>
          </a:xfrm>
          <a:prstGeom prst="ellipse">
            <a:avLst/>
          </a:prstGeom>
          <a:solidFill>
            <a:srgbClr val="B8884A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92040" y="2743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Checkout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37760" y="31546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sus datos, horario de retiro y pago.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9400" y="1828800"/>
            <a:ext cx="365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884A"/>
                </a:solidFill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949440" y="1828800"/>
            <a:ext cx="1920240" cy="20116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635240" y="2057400"/>
            <a:ext cx="548640" cy="548640"/>
          </a:xfrm>
          <a:prstGeom prst="ellipse">
            <a:avLst/>
          </a:prstGeom>
          <a:solidFill>
            <a:srgbClr val="B8884A"/>
          </a:solidFill>
          <a:ln/>
        </p:spPr>
      </p:sp>
      <p:sp>
        <p:nvSpPr>
          <p:cNvPr id="25" name="Text 23"/>
          <p:cNvSpPr/>
          <p:nvPr/>
        </p:nvSpPr>
        <p:spPr>
          <a:xfrm>
            <a:off x="763524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040880" y="2743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Confirma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86600" y="31546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pedido se guarda y aparece en “Mis pedidos”.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B888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Demostración: funciones administrativas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61288" y="82296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8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protegida — solo el administrador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87452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5544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88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06040" y="1417320"/>
            <a:ext cx="187452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15544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88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606040" y="22402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187452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5544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88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663440" y="22402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20840" y="1417320"/>
            <a:ext cx="187452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20840" y="15544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88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720840" y="22402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2971800"/>
            <a:ext cx="7955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de productos y categorías (crear, editar, eliminar).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pedidos: cambio de estado (pendiente → entregado).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usuarios y panel de estadísticas con ventas por día.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B888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y control de acceso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8404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y rutas protegidas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94767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vs administrador; el panel se protege con @user_passes_test. Un no autorizado va al login.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417320"/>
            <a:ext cx="38404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Validaciones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94767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Tope de cantidad, precio mínimo, teléfono y bloqueo de productos no disponibles.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38404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3108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Robustez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350215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Saneamiento de URLs y sesión, anti-doble-pedido y manejo de ProtectedError.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09160" y="2971800"/>
            <a:ext cx="38404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3108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Protección de Django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350215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CSRF, inyección SQL (vía ORM) y XSS (autoescape) — verificado con pruebas.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B888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Dificultades técnicas y soluciones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37160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88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Concurrencia en SQLite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337560" y="1371600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Bloqueos al escribir varios pedidos a la vez → se activó WAL + timeout.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804672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24028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88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Integridad del historial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337560" y="2240280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cambia el precio, el pedido viejo no debe alterarse → se guarda el precio en DetallePedido.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804672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310896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88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inválidos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337560" y="3108960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que una URL o sesión malformada rompa el sitio → saneamiento y pruebas adversariales.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804672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397764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88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Compra como invitado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337560" y="3977640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 comprar sin cuenta sin perder los datos → usuario nulo + datos de contacto en el pedido.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B888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Mejoras futuras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84048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276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Pago real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02996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una pasarela como Mercado Pago o Webpay.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463040"/>
            <a:ext cx="384048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6276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Inventario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202996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stock por producto.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384048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30906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349300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de pedido y recuperación de contraseña con token al email.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709160" y="2926080"/>
            <a:ext cx="384048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30906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349300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e informes de ventas más completos.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4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B8884A"/>
                </a:solidFill>
              </a:rPr>
              <a:t>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0E6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¡Gracias!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B88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en vivo del sistema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github.com/suidett/REPO-CLASES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demo:  admin / Cafe2024Admin   ·   cliente / Cafe2024Cliente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Vittorio Coffee — Presentación</dc:title>
  <dc:subject>PptxGenJS Presentation</dc:subject>
  <dc:creator>Vittorio Coffee</dc:creator>
  <cp:lastModifiedBy>Vittorio Coffee</cp:lastModifiedBy>
  <cp:revision>1</cp:revision>
  <dcterms:created xsi:type="dcterms:W3CDTF">2026-06-24T22:18:29Z</dcterms:created>
  <dcterms:modified xsi:type="dcterms:W3CDTF">2026-06-24T22:18:29Z</dcterms:modified>
</cp:coreProperties>
</file>